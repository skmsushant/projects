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1291" y="676964"/>
            <a:ext cx="10375141" cy="550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Georgia"/>
              </a:defRPr>
            </a:pPr>
            <a:r>
              <a:rPr lang="en-US" dirty="0"/>
              <a:t>Algorithmic Trading : Predictive Models for Stock Prices Using Machine Learning</a:t>
            </a:r>
            <a:endParaRPr dirty="0"/>
          </a:p>
          <a:p>
            <a:pPr>
              <a:spcAft>
                <a:spcPts val="4500"/>
              </a:spcAft>
              <a:defRPr sz="1800">
                <a:solidFill>
                  <a:srgbClr val="EAB308"/>
                </a:solidFill>
                <a:latin typeface="Arial"/>
              </a:defRPr>
            </a:pPr>
            <a:r>
              <a:rPr dirty="0"/>
              <a:t>A Global Cross-Sectional Time-Series Framework Comparing OLS, XGBoost, and </a:t>
            </a:r>
            <a:r>
              <a:rPr lang="en-US" dirty="0"/>
              <a:t>Transformer-Encoder</a:t>
            </a:r>
          </a:p>
          <a:p>
            <a:pPr>
              <a:spcAft>
                <a:spcPts val="4500"/>
              </a:spcAft>
              <a:defRPr sz="1800">
                <a:solidFill>
                  <a:srgbClr val="EAB308"/>
                </a:solidFill>
                <a:latin typeface="Arial"/>
              </a:defRPr>
            </a:pPr>
            <a:endParaRPr lang="en-US" dirty="0"/>
          </a:p>
          <a:p>
            <a:pPr>
              <a:spcAft>
                <a:spcPts val="4500"/>
              </a:spcAft>
              <a:defRPr sz="1800">
                <a:solidFill>
                  <a:srgbClr val="EAB308"/>
                </a:solidFill>
                <a:latin typeface="Arial"/>
              </a:defRPr>
            </a:pPr>
            <a:endParaRPr lang="en-US" dirty="0"/>
          </a:p>
          <a:p>
            <a:pPr>
              <a:spcAft>
                <a:spcPts val="4500"/>
              </a:spcAft>
              <a:defRPr sz="1800">
                <a:solidFill>
                  <a:srgbClr val="EAB308"/>
                </a:solidFill>
                <a:latin typeface="Arial"/>
              </a:defRPr>
            </a:pPr>
            <a:endParaRPr dirty="0"/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rPr dirty="0"/>
              <a:t>M.Sc. </a:t>
            </a:r>
            <a:r>
              <a:rPr lang="en-US" dirty="0"/>
              <a:t>DS</a:t>
            </a:r>
            <a:r>
              <a:rPr dirty="0"/>
              <a:t> Major Project Thesis Presentation</a:t>
            </a:r>
            <a:br>
              <a:rPr dirty="0"/>
            </a:br>
            <a:r>
              <a:rPr dirty="0"/>
              <a:t>Presented by: Su</a:t>
            </a:r>
            <a:r>
              <a:rPr lang="en-US" dirty="0"/>
              <a:t>shant Kumar</a:t>
            </a:r>
            <a:r>
              <a:rPr dirty="0"/>
              <a:t> (Roll No: </a:t>
            </a:r>
            <a:r>
              <a:rPr lang="en-US" dirty="0"/>
              <a:t>O24MSD110161</a:t>
            </a:r>
            <a:r>
              <a:rPr dirty="0"/>
              <a:t>)  |  Guided by: </a:t>
            </a:r>
            <a:r>
              <a:rPr lang="en-US" dirty="0"/>
              <a:t>Saurabh Kunwar Bisen (Qollabb)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E382A-EE92-27BD-6BD7-0FA39628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282" y="3027678"/>
            <a:ext cx="4198070" cy="21759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Project Motivation &amp; Empirical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2929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The Core Challenge in Stock Forecasting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dirty="0"/>
              <a:t>•  </a:t>
            </a:r>
            <a:r>
              <a:rPr sz="1600" dirty="0"/>
              <a:t>Financial market indices are notoriously highly non-linear, stochastic, and noisy.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Incorporating daily news sentiment is vital, but raw sentiment is filled with noise.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Traditional single-stock models suffer from high variance, over-fitting, and limited chronological data.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lang="en-US" sz="1600" dirty="0"/>
              <a:t>There is a major structural gap in evaluating attention-based architectures globally vs. standard linear baseline benchmarks.</a:t>
            </a:r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Key Quantitative Objectives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dirty="0"/>
              <a:t>•  </a:t>
            </a:r>
            <a:r>
              <a:rPr sz="1600" dirty="0"/>
              <a:t>Develop an on-the-fly local NLTK VADER sentiment compound score aggregator weighted by AV relevance coefficients.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Build a fully discrepancy-free dual-split preprocessing pipeline (Baseline Price-Only vs. Sentiment-Enhanced matrices).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Establish a global cross-sectional benchmark training framework combining key NIFTY50 equity leaders and indices into unified splits.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Rigorous mathematical hypothesis testing: Granger Causality, Nested OLS F-Tests, Paired t-Tests, and performance scorecards.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System Architecture &amp; 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535070" cy="499055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834640" cy="36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1. Ingestion &amp; Engineering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collection_data.py: Clean, standardized daily Yahoo Finance historical pulls.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Alpha Vantage daily news sentiment API integration.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preparation_data.py: Calculates 10 technical indicators on-the-fly (EMA, RSI, MACD, Bollinger Bands).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Alternative news sentiment API fallback generation mechanism.</a:t>
            </a:r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4449470" y="1645920"/>
            <a:ext cx="3535070" cy="499055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78070" y="1874520"/>
            <a:ext cx="2834640" cy="4683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2. Preprocessing &amp; scaling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model.py: Custom Transformer Encoder model shell with multi-head self-attention and static positional embeddings.</a:t>
            </a:r>
            <a:endParaRPr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Multi-Head Self-Attention layer, feed-forward block, and Keras-Tuner regularization (L1, L2, L1_L2).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main_app.py: Streamlit dashboard exposing interactive candlestick indicators, model backtest projections, and Company Profile details.</a:t>
            </a:r>
            <a:endParaRPr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Sliding chronological lookback sequence generation (10 days).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14055" y="1645919"/>
            <a:ext cx="3535070" cy="4911933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13140" y="1753386"/>
            <a:ext cx="3535070" cy="3072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3. Core Modeling &amp; UI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model.py: State-of-the-art public model constructors exposing unified deep networks.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Agile </a:t>
            </a:r>
            <a:r>
              <a:rPr lang="en-US" sz="1600" dirty="0"/>
              <a:t>Multi-Attention heads with Feed-Forward Layer</a:t>
            </a:r>
            <a:r>
              <a:rPr sz="1600" dirty="0"/>
              <a:t> with dropout and</a:t>
            </a:r>
            <a:r>
              <a:rPr lang="en-US" sz="1600" dirty="0"/>
              <a:t>  </a:t>
            </a:r>
            <a:r>
              <a:rPr sz="1600" dirty="0"/>
              <a:t>L2 constraints.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main_app.py: Streamlit dashboard exposing real-time candlestick charts,</a:t>
            </a:r>
            <a:r>
              <a:rPr lang="en-US" sz="1600" dirty="0"/>
              <a:t> </a:t>
            </a:r>
            <a:r>
              <a:rPr sz="1600" dirty="0"/>
              <a:t>predictor panels, and transfer learning tabs.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Feature Engineering Pipeline (preparation_data.py)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2487" y="1645920"/>
            <a:ext cx="5353953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2580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Automated Feature Ingestion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Sourcing daily bars for NIFTY50 leaders (RELIANCE, ADANIENT, SBIN, TCS, ONGC, etc.).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Resolves exchange and country dynamically for custom yfinance tickers to apply correct trading holiday calendars and currency symbols.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Standardizes column labels, cleans timestamps, and drops duplicate sequences automatically to ensure absolute continuity.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57361" y="1645920"/>
            <a:ext cx="5045791" cy="34214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Technical Indicator Architecture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dirty="0"/>
              <a:t>•  </a:t>
            </a:r>
            <a:r>
              <a:rPr lang="en-US" sz="1600" dirty="0"/>
              <a:t>EMA Features: Computes explicit EMA-3 and EMA-5 indicators for short-term price trends, along with MACD (12, 26) differential.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Oscillators: Formulates 14-day RSI and 14-day Money Flow Index (MFI) to track volume-weighted momentum and relative price strength.</a:t>
            </a:r>
            <a:endParaRPr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Trend Channels: Bollinger Bands upper/lower boundaries based on rolling 20-day standard deviations.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VWAP &amp; Lifetime Volatility: Calculates Volume-Weighted Average Price (VWAP) on-the-fly and lifetime expanding return volatility.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rPr dirty="0"/>
              <a:t>Preprocessing &amp; MinMaxScaler Maps (preprocessing_data.py)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0054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2929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Target-Guided Ordinal Encoding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dirty="0"/>
              <a:t>•  </a:t>
            </a:r>
            <a:r>
              <a:rPr sz="1600" dirty="0"/>
              <a:t>Standard categorical features (Exchange, Country, ownership, asset class) are mapped dynamically.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Categories are ranked by mean historical lifetime returns to maximize model linear separability.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Fully deterministic; prevents training leakage while providing deep statistical signals to OLS/XGBoost.</a:t>
            </a:r>
            <a:endParaRPr lang="en-US"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lang="en-US" sz="1600" dirty="0"/>
              <a:t>• Lifetime Expanding Features: Ingests cumulative returns, expanding support (min)/resistance (max), and expanding volatility since inception before encoding.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34214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Per-Symbol Scaling Isolation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Standard global scaling destroys mathematical boundaries between low-price (SBIN: 600) and high-price (TCS: 3400) stocks.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Solution: Dynamically fits and stores unique MinMaxScaler instances in a '</a:t>
            </a:r>
            <a:r>
              <a:rPr sz="1600" dirty="0" err="1"/>
              <a:t>symbol_scalers</a:t>
            </a:r>
            <a:r>
              <a:rPr sz="1600" dirty="0"/>
              <a:t>' map.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Allows complete per-symbol scaling isolation during training and </a:t>
            </a:r>
            <a:r>
              <a:rPr sz="1600" dirty="0" err="1"/>
              <a:t>unscaling</a:t>
            </a:r>
            <a:r>
              <a:rPr sz="1600" dirty="0"/>
              <a:t> during validation.</a:t>
            </a:r>
            <a:endParaRPr lang="en-US"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lang="en-US" sz="1600" dirty="0"/>
              <a:t>• Dual-Partition Outputs: Generates two distinct tensors: Copy A (23 price-only features for baseline comparisons) and Copy B (24 features including news sentiment).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rPr dirty="0"/>
              <a:t>Deep Learning </a:t>
            </a:r>
            <a:r>
              <a:rPr lang="en-US" sz="2800" b="1" dirty="0"/>
              <a:t>Attention-Based</a:t>
            </a:r>
            <a:r>
              <a:rPr dirty="0"/>
              <a:t> Architecture (model.py)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Agile </a:t>
            </a:r>
            <a:r>
              <a:rPr lang="en-US" dirty="0"/>
              <a:t>Transformer Encoder</a:t>
            </a:r>
            <a:r>
              <a:rPr dirty="0"/>
              <a:t> Architecture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Input Window: Sequence length of 10 days with 23 features (Baseline) or 24 features (Sentiment-Enhanced).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b="1" dirty="0"/>
              <a:t>Attention-Based Transformer Encoder</a:t>
            </a:r>
            <a:r>
              <a:rPr lang="en-US" sz="1600" dirty="0"/>
              <a:t> (using sinusoidal Static_Positional_Embedding and Transformer_Encoder layers).</a:t>
            </a:r>
            <a:endParaRPr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Dense Layers: Global Average Pooling followed by 32 hidden units (ReLU) transitioning to a single linear output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Uses self-attention to map global contextual dependencies across the 10-day lookback window in parallel.</a:t>
            </a:r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3072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Discrepancy Resolution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dirty="0"/>
              <a:t>•  </a:t>
            </a:r>
            <a:r>
              <a:rPr lang="en-US" sz="1600" dirty="0"/>
              <a:t>Model Underfitting: Sub-optimal learning rate bounds (down to 1e-8) and premature early stopping caused the Transformer forecasts to collapse to a flat mean.</a:t>
            </a:r>
            <a:endParaRPr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Resolution: Adjusted the learning rate search space to [1e-4, 1e-2], cleared the tuner cache, and extended early stopping patience to 10 epochs.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Streamlit Alignment: Saved optimized hyperparameters to </a:t>
            </a:r>
            <a:r>
              <a:rPr lang="en-US" sz="1600" dirty="0" err="1"/>
              <a:t>best_hps.json</a:t>
            </a:r>
            <a:r>
              <a:rPr lang="en-US" sz="1600" dirty="0"/>
              <a:t> and weights to best_transformer_weights.weights.h5 for instant, shell-reconstructed loading.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Production Streamlit Web Interface (main_app.py)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2826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Predictive &amp; Market Tabs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dirty="0"/>
              <a:t>•  </a:t>
            </a:r>
            <a:r>
              <a:rPr sz="1600" dirty="0"/>
              <a:t>Markets Overview: Real-time interactive candlestick charts, moving average indicators, and standard deviations.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lang="en-US" sz="1600" dirty="0"/>
              <a:t>• Pre-trained Predictor: Generates multi-step forecasts in dynamic currency ($ or ₹), projected price shift percentage, and model backtest directional accuracy.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Seamlessly integrates local VADER relevance-weighted sentiment aggregation dynamically in the background.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35086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</a:rPr>
              <a:t>🏢 Institution Profile Details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</a:rPr>
              <a:t>Company Information Tab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: Dynamically retrieves the profile of the selected ticker (Full legal name, Sector, Industry, Website, and Business Description).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</a:rPr>
              <a:t>Cached Data Retrieval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: Uses @st.cache_data to cache company metadata, ensuring instant load times and preventing API rate-limiting.</a:t>
            </a:r>
          </a:p>
          <a:p>
            <a:endParaRPr lang="en-US" sz="12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200" b="1" dirty="0">
                <a:solidFill>
                  <a:schemeClr val="bg1">
                    <a:lumMod val="85000"/>
                  </a:schemeClr>
                </a:solidFill>
              </a:rPr>
              <a:t>⚙️ Dynamic Metadata &amp; Fallback Controls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</a:rPr>
              <a:t>Ticker Suffix Auto-Resolution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: Automatically detects if a user inputs an Indian stock (like reliance or 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sbin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) without its exchange suffix, resolving it to its NSE equivalent in the background.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</a:rPr>
              <a:t>Dynamic Currency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: Automatically switches UI indicators between Rupees (₹) and Dollars ($) depending on the stock's exchange country.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>
                    <a:lumMod val="85000"/>
                  </a:schemeClr>
                </a:solidFill>
              </a:rPr>
              <a:t>Exchange Off Protection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: Dynamically detects weekends/holidays based on the exchange calendar, zeroing out metric cards and showing EXCHANGE OFF to block invalid trading day forecasts.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Quantitative Research Framework (analysis.ipynb)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2929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Global Cross-Sectional Framework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Avoids single-stock bias by combining selected index benchmarks and equity symbols into unified global matrices.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Splits the chronological data into 80% train and 20% test splits.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Concatenates all symbol sequences: 8,824 training windows and 2,211 validation windows.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Models are trained globally on combined matrices to ensure generalizability.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26827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Pristine Validation Protocol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Predictions are executed symbol-by-symbol rather than passing the global matrix directly.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Predictions for each symbol are inverse-scaled individually using the stored symbol-specific scalers.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The unscaled arrays are concatenated back-to-back into a global 1D array.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Ensures 100% mathematically correct scoring without cross-stock scale corruption.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Empirical Benchmark Scorecard (All Stocks Concatenated)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B308"/>
                </a:solidFill>
                <a:latin typeface="Arial"/>
              </a:defRPr>
            </a:pPr>
            <a:r>
              <a:t>📊 Comparative validation metrics computed globally across 2,211 validation samples: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256964"/>
              </p:ext>
            </p:extLst>
          </p:nvPr>
        </p:nvGraphicFramePr>
        <p:xfrm>
          <a:off x="685800" y="2286000"/>
          <a:ext cx="10820095" cy="362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4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Model 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MAE (Rupees)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R2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dirty="0"/>
                        <a:t>Directional 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 dirty="0"/>
                        <a:t>OLS Linear Regression (Baseline)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4.1979e+04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72.67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0.9998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49.3%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 dirty="0"/>
                        <a:t>OLS Linear Regression (Sentiment-Enhanced)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4.2239e+04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72.96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0.9998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48.8%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 dirty="0"/>
                        <a:t>XGBoost Regressor (Baseline)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2.3859e+05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207.55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0.9991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49.0%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 dirty="0"/>
                        <a:t>XGBoost Regressor (Sentiment-Enhanced)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2.4103e+05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209.20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0.9991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sz="1400"/>
                        <a:t>49.1%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5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0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 Encoder (Baseline)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6.1248e+05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557.06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0.9976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48.9%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0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 Encoder (Sentiment-Enhanced)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1.2357e+05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270.82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0.9995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lang="en-US" sz="1400" b="1" i="0" kern="1200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49.8%</a:t>
                      </a:r>
                      <a:endParaRPr sz="14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rPr lang="en-US" sz="2800" dirty="0"/>
              <a:t>Theoretical Analysis: Benchmarking Transformer vs. OLS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415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Solving Memory Contamination (Stateless Transformer)</a:t>
            </a:r>
            <a:endParaRPr lang="en-US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Stateless Parallelization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: The Transformer processes 10-day lookback sequence windows in parallel using self-attention, requiring no recurrent hidden states.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No State Carry-over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: It completely eliminates the GRU's boundary-leakage problem where memory of one stock's price level carries over into another stock's gradient calculations.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Stable Weight Optimization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: Eliminating state carry-over yields stable gradient updates across the global multi-stock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2970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Inverse Scaling &amp; Lag Dominance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dirty="0"/>
              <a:t>•  </a:t>
            </a:r>
            <a:r>
              <a:rPr lang="en-US" sz="1600" dirty="0"/>
              <a:t>MinMaxScaler Multiplier: Unlike the unstable GRU, the Transformer restricts predictions cleanly within bounds. However, tiny scaling residuals are still multiplied by the stock's full price range during inverse scaling.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</a:t>
            </a:r>
            <a:r>
              <a:rPr lang="en-US" sz="1600" dirty="0"/>
              <a:t>Autoregressive Lag: Tomorrow's close price is highly collinear with today's price. OLS acts as a highly optimized 'naive predictor' (R^2 = 0.9998). The Transformer closely tracks these price dynamics (R^2 = 0.9995) without recurrent memory corruption.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Statistical Significance Testing on News Sentiment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141482" cy="4887986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667786" cy="4190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1. Granger Causality Test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Examines if past news sentiment scores contain statistically significant predictive signals for future stock returns.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Lag 1 Granger Causality F-Test p-value: 0.6096</a:t>
            </a:r>
            <a:endParaRPr sz="1600" dirty="0"/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Interpretation: The p-value is vastly higher than 0.05. We fail to reject the null hypothesis.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Verdict: Daily news sentiment does not Granger-cause stock returns historically at a 95% confidence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9188" y="1645920"/>
            <a:ext cx="3308243" cy="4887986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95813" y="1737360"/>
            <a:ext cx="3211618" cy="4437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2. Nested OLS F-Test (ANOVA)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Evaluates if adding daily sentiment parameters significantly reduces prediction error compared to a price-only baseline.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Nested F-Statistic p-value: 1.0000e+00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Interpretation: The p-value is ~1.00, meaning sentiment features do not add statistically significant predictive value.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Market Takeaway: In noisy daily asset pricing, technical price channels are highly dominant over daily aggregated news sentiment.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E4B727E-D745-D100-2FAC-811D7FB76AD2}"/>
                  </a:ext>
                </a:extLst>
              </p:cNvPr>
              <p:cNvSpPr/>
              <p:nvPr/>
            </p:nvSpPr>
            <p:spPr>
              <a:xfrm>
                <a:off x="7854664" y="1645920"/>
                <a:ext cx="3308243" cy="4887986"/>
              </a:xfrm>
              <a:prstGeom prst="rect">
                <a:avLst/>
              </a:prstGeom>
              <a:solidFill>
                <a:srgbClr val="1E293B"/>
              </a:solidFill>
              <a:ln w="19050">
                <a:solidFill>
                  <a:srgbClr val="3B82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rgbClr val="FFC000"/>
                    </a:solidFill>
                  </a:rPr>
                  <a:t>3. Paired t-Test (Transformer Baseline vs. Enhanced)</a:t>
                </a:r>
                <a:endParaRPr lang="en-US" dirty="0">
                  <a:solidFill>
                    <a:srgbClr val="FFC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Paired t-Statistic</a:t>
                </a:r>
                <a:r>
                  <a:rPr lang="en-US" sz="1600" dirty="0"/>
                  <a:t>: 26.3774 (</a:t>
                </a:r>
                <a14:m>
                  <m:oMath xmlns:m="http://schemas.openxmlformats.org/officeDocument/2006/math">
                    <m:r>
                      <a:rPr lang="en-US" sz="1600" i="1"/>
                      <m:t>𝑝</m:t>
                    </m:r>
                    <m:r>
                      <a:rPr lang="en-US" sz="1600"/>
                      <m:t>=</m:t>
                    </m:r>
                    <m:r>
                      <a:rPr lang="en-US" sz="1600"/>
                      <m:t>1</m:t>
                    </m:r>
                    <m:r>
                      <a:rPr lang="en-US" sz="1600"/>
                      <m:t>.</m:t>
                    </m:r>
                    <m:r>
                      <a:rPr lang="en-US" sz="1600"/>
                      <m:t>54</m:t>
                    </m:r>
                    <m:r>
                      <a:rPr lang="en-US" sz="1600"/>
                      <m:t>×</m:t>
                    </m:r>
                    <m:sSup>
                      <m:sSupPr>
                        <m:ctrlPr>
                          <a:rPr lang="ar-AE" sz="1600" i="1"/>
                        </m:ctrlPr>
                      </m:sSupPr>
                      <m:e>
                        <m:r>
                          <a:rPr lang="ar-AE" sz="1600"/>
                          <m:t>10</m:t>
                        </m:r>
                      </m:e>
                      <m:sup>
                        <m:r>
                          <a:rPr lang="ar-AE" sz="1600"/>
                          <m:t>−</m:t>
                        </m:r>
                        <m:r>
                          <a:rPr lang="ar-AE" sz="1600"/>
                          <m:t>133</m:t>
                        </m:r>
                      </m:sup>
                    </m:sSup>
                    <m:r>
                      <a:rPr lang="ar-AE" sz="1600"/>
                      <m:t>≪</m:t>
                    </m:r>
                    <m:r>
                      <a:rPr lang="ar-AE" sz="1600"/>
                      <m:t>0</m:t>
                    </m:r>
                    <m:r>
                      <a:rPr lang="ar-AE" sz="1600"/>
                      <m:t>.</m:t>
                    </m:r>
                    <m:r>
                      <a:rPr lang="ar-AE" sz="1600"/>
                      <m:t>05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Interpretation</a:t>
                </a:r>
                <a:r>
                  <a:rPr lang="en-US" sz="1600" dirty="0"/>
                  <a:t>: Proves with extreme confidence (</a:t>
                </a:r>
                <a14:m>
                  <m:oMath xmlns:m="http://schemas.openxmlformats.org/officeDocument/2006/math">
                    <m:r>
                      <a:rPr lang="en-US" sz="1600" i="1"/>
                      <m:t>𝑝</m:t>
                    </m:r>
                    <m:r>
                      <a:rPr lang="en-US" sz="1600"/>
                      <m:t>≈</m:t>
                    </m:r>
                    <m:r>
                      <a:rPr lang="en-US" sz="1600"/>
                      <m:t>0</m:t>
                    </m:r>
                  </m:oMath>
                </a14:m>
                <a:r>
                  <a:rPr lang="en-US" sz="1600" dirty="0"/>
                  <a:t>) that the Sentiment-Enhanced Transformer yields statistically smaller residuals than the baseline price-only model.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/>
                  <a:t>Core Finding</a:t>
                </a:r>
                <a:r>
                  <a:rPr lang="en-US" sz="1600" dirty="0"/>
                  <a:t>: While news sentiment does not show linear causality in OLS/Granger tests, the </a:t>
                </a:r>
                <a:r>
                  <a:rPr lang="en-US" sz="1600" b="1" dirty="0"/>
                  <a:t>Transformer's self-attention successfully extracts non-linear sentiment correlations</a:t>
                </a:r>
                <a:r>
                  <a:rPr lang="en-US" sz="1600" dirty="0"/>
                  <a:t> to improve forecasts.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E4B727E-D745-D100-2FAC-811D7FB76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664" y="1645920"/>
                <a:ext cx="3308243" cy="48879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3B82F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Academic 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66344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AB308"/>
                </a:solidFill>
                <a:latin typeface="Arial"/>
              </a:defRPr>
            </a:pPr>
            <a:r>
              <a:rPr dirty="0"/>
              <a:t>Key Project Takeaways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Successfully established a rigorous, global cross-sectional time-series algorithmic benchmarking framework.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Static models (OLS/XGBoost) are highly robust. While the old recurrent GRU underperformed (R^2 approx 95.7), the stateless Transformer Encoder successfully tracks price dynamics (R^2 = 99.95).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Created a discrepancy-free local VADER compounding sentiment aggregation engine.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Delivered a production-ready, interactive Streamlit web dashboard with live forecasting metrics, backtest charts, and Company Profile metadata.</a:t>
            </a:r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11112" y="1874520"/>
            <a:ext cx="4663440" cy="2929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rPr dirty="0"/>
              <a:t>Future Research Trajectory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lang="en-US" sz="1600" dirty="0"/>
              <a:t>• Implement multi-asset cross-attention layers to capture correlation dynamics between different corporate stocks.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</a:t>
            </a:r>
            <a:r>
              <a:rPr lang="en-US" sz="1600" dirty="0"/>
              <a:t>Expand sequence lookback windows using high-frequency intraday tick bars rather than daily bars.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Integrate transformer-based LLMs (e.g., </a:t>
            </a:r>
            <a:r>
              <a:rPr sz="1600" dirty="0" err="1"/>
              <a:t>FinBERT</a:t>
            </a:r>
            <a:r>
              <a:rPr sz="1600" dirty="0"/>
              <a:t>) for high-frequency sentiment extraction.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  <a:latin typeface="Calibri"/>
              </a:defRPr>
            </a:pPr>
            <a:r>
              <a:rPr sz="1600" dirty="0"/>
              <a:t>•  Incorporate a reinforcement learning layer for automatic signal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1912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Sushant Kumar</cp:lastModifiedBy>
  <cp:revision>20</cp:revision>
  <dcterms:created xsi:type="dcterms:W3CDTF">2013-01-27T09:14:16Z</dcterms:created>
  <dcterms:modified xsi:type="dcterms:W3CDTF">2026-06-27T22:53:01Z</dcterms:modified>
  <cp:category/>
</cp:coreProperties>
</file>